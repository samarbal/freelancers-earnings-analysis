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9" r:id="rId4"/>
    <p:sldId id="260" r:id="rId5"/>
    <p:sldId id="261" r:id="rId6"/>
    <p:sldId id="262" r:id="rId7"/>
    <p:sldId id="263" r:id="rId8"/>
    <p:sldId id="258" r:id="rId9"/>
    <p:sldId id="264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9D8"/>
    <a:srgbClr val="88CD8B"/>
    <a:srgbClr val="65B0A6"/>
    <a:srgbClr val="C0E0D8"/>
    <a:srgbClr val="0D4A84"/>
    <a:srgbClr val="00CC66"/>
    <a:srgbClr val="03325E"/>
    <a:srgbClr val="D7D7D7"/>
    <a:srgbClr val="CCFF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778" autoAdjust="0"/>
  </p:normalViewPr>
  <p:slideViewPr>
    <p:cSldViewPr snapToGrid="0">
      <p:cViewPr varScale="1">
        <p:scale>
          <a:sx n="64" d="100"/>
          <a:sy n="64" d="100"/>
        </p:scale>
        <p:origin x="1397" y="8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9B841-DEC1-4ACA-BC09-9D8D40F2598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62BA7-F711-4608-B5DB-684C2A3C8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1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This is Samar Balousha , in this analysis project , </a:t>
            </a:r>
            <a:r>
              <a:rPr lang="en-US" b="1" dirty="0"/>
              <a:t>'Freelancing Earning &amp; Job Trends Insights,'</a:t>
            </a:r>
            <a:r>
              <a:rPr lang="en-US" dirty="0"/>
              <a:t> is driven by a simple yet critical mission: to enable </a:t>
            </a:r>
            <a:r>
              <a:rPr lang="en-US" b="1" dirty="0"/>
              <a:t>strategic decision-making</a:t>
            </a:r>
            <a:r>
              <a:rPr lang="en-US" dirty="0"/>
              <a:t> across the global freelancing landscape. We are focusing on two key pillars: </a:t>
            </a:r>
            <a:r>
              <a:rPr lang="en-US" b="1" dirty="0"/>
              <a:t>Earnings Efficiency</a:t>
            </a:r>
            <a:r>
              <a:rPr lang="en-US" dirty="0"/>
              <a:t> and </a:t>
            </a:r>
            <a:r>
              <a:rPr lang="en-US" b="1" dirty="0"/>
              <a:t>Client Loyalty</a:t>
            </a:r>
            <a:r>
              <a:rPr lang="en-US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03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Our project goal is clear: </a:t>
            </a:r>
            <a:r>
              <a:rPr lang="en-US" b="1" dirty="0"/>
              <a:t>To enable strategic decision-making by identifying the key drivers of Earnings Efficiency and Client Loyalty</a:t>
            </a:r>
            <a:r>
              <a:rPr lang="en-US" dirty="0"/>
              <a:t> across the global freelance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93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dashboard</a:t>
            </a:r>
            <a:r>
              <a:rPr lang="ar-SA" dirty="0"/>
              <a:t> </a:t>
            </a:r>
            <a:r>
              <a:rPr lang="en-US" dirty="0"/>
              <a:t>provides our executive summary. Our average earnings are around </a:t>
            </a:r>
            <a:r>
              <a:rPr lang="en-US" b="1" dirty="0"/>
              <a:t>$5K</a:t>
            </a:r>
            <a:r>
              <a:rPr lang="en-US" dirty="0"/>
              <a:t>, with a healthy </a:t>
            </a:r>
            <a:r>
              <a:rPr lang="en-US" b="1" dirty="0"/>
              <a:t>75% job success rate</a:t>
            </a:r>
            <a:r>
              <a:rPr lang="en-US" dirty="0"/>
              <a:t>. The work is globally distributed, showing strong international demand. Our overall Rehire Rate is </a:t>
            </a:r>
            <a:r>
              <a:rPr lang="en-US" b="1" dirty="0"/>
              <a:t>44%</a:t>
            </a:r>
            <a:r>
              <a:rPr lang="en-US" dirty="0"/>
              <a:t>, indicating consistent client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87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dashboard shows us where freelancers earn their money.</a:t>
            </a:r>
          </a:p>
          <a:p>
            <a:r>
              <a:rPr lang="en-US" b="1" dirty="0"/>
              <a:t>The main takeaway is simple: Experience is the biggest factor, not the platform.</a:t>
            </a:r>
            <a:endParaRPr lang="en-US" dirty="0"/>
          </a:p>
          <a:p>
            <a:r>
              <a:rPr lang="en-US" dirty="0"/>
              <a:t>If you look at the bar chart, Expert freelancers earn significantly more than Beginners on every single website.</a:t>
            </a:r>
          </a:p>
          <a:p>
            <a:r>
              <a:rPr lang="en-US" dirty="0"/>
              <a:t>While </a:t>
            </a:r>
            <a:r>
              <a:rPr lang="en-US" b="1" dirty="0" err="1"/>
              <a:t>PeoplePerHour</a:t>
            </a:r>
            <a:r>
              <a:rPr lang="en-US" dirty="0"/>
              <a:t> has the highest hourly rate at </a:t>
            </a:r>
            <a:r>
              <a:rPr lang="en-US" b="1" dirty="0"/>
              <a:t>$54</a:t>
            </a:r>
            <a:r>
              <a:rPr lang="en-US" dirty="0"/>
              <a:t>, the market share is fairly even across all platforms.</a:t>
            </a:r>
          </a:p>
          <a:p>
            <a:r>
              <a:rPr lang="en-US" b="1" dirty="0"/>
              <a:t>In short: Invest in skill development to reach the Expert level—that is the key to higher pay.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43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dashboard helps us find high-value markets. </a:t>
            </a:r>
            <a:r>
              <a:rPr lang="en-US" b="1" dirty="0"/>
              <a:t>Canada pays the highest average earnings</a:t>
            </a:r>
            <a:r>
              <a:rPr lang="en-US" dirty="0"/>
              <a:t>, while </a:t>
            </a:r>
            <a:r>
              <a:rPr lang="en-US" b="1" dirty="0"/>
              <a:t>Australia shows the highest job success rate</a:t>
            </a:r>
            <a:r>
              <a:rPr lang="en-US" dirty="0"/>
              <a:t>. By category, </a:t>
            </a:r>
            <a:r>
              <a:rPr lang="en-US" b="1" dirty="0"/>
              <a:t>App Development and Graphic Design</a:t>
            </a:r>
            <a:r>
              <a:rPr lang="en-US" dirty="0"/>
              <a:t> are the clear top earners. This tells us where to concentrate our recruitment and client targeting efforts.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88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dashboard analyzes client loyalty. Our key finding is that </a:t>
            </a:r>
            <a:r>
              <a:rPr lang="en-US" b="1" dirty="0"/>
              <a:t>expertise is the strongest driver of rehire</a:t>
            </a:r>
            <a:r>
              <a:rPr lang="en-US" dirty="0"/>
              <a:t>, with Experts having the highest rehire rate.</a:t>
            </a:r>
          </a:p>
          <a:p>
            <a:r>
              <a:rPr lang="en-US" dirty="0"/>
              <a:t>However, there is a </a:t>
            </a:r>
            <a:r>
              <a:rPr lang="en-US" b="1" dirty="0"/>
              <a:t>loyalty gap</a:t>
            </a:r>
            <a:r>
              <a:rPr lang="en-US" dirty="0"/>
              <a:t>. High client ratings do not guarantee high loyalty, and </a:t>
            </a:r>
            <a:r>
              <a:rPr lang="en-US" b="1" dirty="0"/>
              <a:t>earnings are not significantly affected by high client ratings</a:t>
            </a:r>
            <a:r>
              <a:rPr lang="en-US" dirty="0"/>
              <a:t>.</a:t>
            </a:r>
          </a:p>
          <a:p>
            <a:r>
              <a:rPr lang="en-US" b="1" dirty="0"/>
              <a:t>Action:</a:t>
            </a:r>
            <a:r>
              <a:rPr lang="en-US" dirty="0"/>
              <a:t> We must focus on targeted retention efforts to secure loyalty from those top-rated clients who currently don't rehire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02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For this dashboard the question arise : Are we spending our marketing budget effectively?</a:t>
            </a:r>
          </a:p>
          <a:p>
            <a:endParaRPr lang="en-US" b="1" dirty="0"/>
          </a:p>
          <a:p>
            <a:r>
              <a:rPr lang="en-US" dirty="0"/>
              <a:t>The chart clearly shows that there is </a:t>
            </a:r>
            <a:r>
              <a:rPr lang="en-US" b="1" dirty="0"/>
              <a:t>no direct, positive correlation between spending and earnings</a:t>
            </a:r>
            <a:r>
              <a:rPr lang="en-US" dirty="0"/>
              <a:t>. In fact, we see an inverted relationship: high spending does not guarantee high revenue.</a:t>
            </a:r>
          </a:p>
          <a:p>
            <a:r>
              <a:rPr lang="en-US" dirty="0"/>
              <a:t>The solution lies in </a:t>
            </a:r>
            <a:r>
              <a:rPr lang="en-US" b="1" dirty="0"/>
              <a:t>Spending Efficiency</a:t>
            </a:r>
            <a:r>
              <a:rPr lang="en-US" dirty="0"/>
              <a:t>. </a:t>
            </a:r>
            <a:r>
              <a:rPr lang="en-US" b="1" dirty="0"/>
              <a:t>Fiverr achieves the highest ROI</a:t>
            </a:r>
            <a:r>
              <a:rPr lang="en-US" dirty="0"/>
              <a:t>—it generates the most earnings per dollar spent on marketing. Conversely, </a:t>
            </a:r>
            <a:r>
              <a:rPr lang="en-US" dirty="0" err="1"/>
              <a:t>Toptal</a:t>
            </a:r>
            <a:r>
              <a:rPr lang="en-US" dirty="0"/>
              <a:t> is the least efficient.</a:t>
            </a:r>
          </a:p>
          <a:p>
            <a:r>
              <a:rPr lang="en-US" dirty="0"/>
              <a:t>Therefore, our immediate action is to </a:t>
            </a:r>
            <a:r>
              <a:rPr lang="en-US" b="1" dirty="0"/>
              <a:t>reallocate marketing funds based on this efficiency metric,</a:t>
            </a:r>
            <a:r>
              <a:rPr lang="en-US" dirty="0"/>
              <a:t> shifting investment away from high-spend, low-return platforms."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12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correlation between Earnings and all numerical features.</a:t>
            </a:r>
            <a:br>
              <a:rPr lang="en-US" dirty="0"/>
            </a:br>
            <a:r>
              <a:rPr lang="en-US" dirty="0"/>
              <a:t>The key insight is that all correlations are extremely weak — almost zero — meaning none of the numeric factors have a meaningful linear relationship with Earnings. Even the highest correlation, Marketing Spend at +0.04, is too small to matter.</a:t>
            </a:r>
            <a:br>
              <a:rPr lang="en-US" dirty="0"/>
            </a:br>
            <a:r>
              <a:rPr lang="en-US" dirty="0"/>
              <a:t>We also don’t see multicollinearity, so the features are independent.</a:t>
            </a:r>
            <a:br>
              <a:rPr lang="en-US" dirty="0"/>
            </a:br>
            <a:r>
              <a:rPr lang="en-US" dirty="0"/>
              <a:t>Overall, this tells us linear models won’t be very predictive here, and we need more advanced or non-linear models to understand earnings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46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SWOT analysis highlights four key points:</a:t>
            </a:r>
            <a:br>
              <a:rPr lang="en-US" dirty="0"/>
            </a:br>
            <a:r>
              <a:rPr lang="en-US" dirty="0"/>
              <a:t>Our strength is a high job success rate and strong client satisfaction.</a:t>
            </a:r>
            <a:br>
              <a:rPr lang="en-US" dirty="0"/>
            </a:br>
            <a:r>
              <a:rPr lang="en-US" dirty="0"/>
              <a:t>The weakness is that even top ratings don’t translate into higher earnings.</a:t>
            </a:r>
            <a:br>
              <a:rPr lang="en-US" dirty="0"/>
            </a:br>
            <a:r>
              <a:rPr lang="en-US" dirty="0"/>
              <a:t>The opportunity lies in focusing on high-paying fields like App Development and Graphic Design to boost revenue.</a:t>
            </a:r>
            <a:br>
              <a:rPr lang="en-US" dirty="0"/>
            </a:br>
            <a:r>
              <a:rPr lang="en-US" dirty="0"/>
              <a:t>And the main threat is inefficient marketing spend, where investment isn’t generating proportional returns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72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analysis, we recommend shifting marketing spend toward platforms that deliver higher returns, and reducing investment in low-performing ones. </a:t>
            </a:r>
          </a:p>
          <a:p>
            <a:r>
              <a:rPr lang="en-US" dirty="0"/>
              <a:t>We should also focus on attracting expert-level freelancers in high-earning categories like app development and graphic design. </a:t>
            </a:r>
          </a:p>
          <a:p>
            <a:r>
              <a:rPr lang="en-US" dirty="0"/>
              <a:t>Additionally, improving retention for top-rated clients can increase repeat business. </a:t>
            </a:r>
          </a:p>
          <a:p>
            <a:r>
              <a:rPr lang="en-US" dirty="0"/>
              <a:t>Finally, prioritizing strong geographic markets such as Canada and Australia will help capture higher-value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95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project, I’ve used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62BA7-F711-4608-B5DB-684C2A3C81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4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B927-8E50-365D-480F-40234474B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BAF0C-0B61-6BDF-7BAD-A53CBE08D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1DCCC-2E31-B1E4-F370-D715A648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A6CCB-DE3F-CA0D-A3C5-F351476D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FCB8E-0E30-99A9-2EC4-7D2B37C7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22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1EA5-4A47-6DA4-B9DA-3DBF9242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69995-FF69-E8E6-3484-60914A1B5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534A9-E1E5-02AF-178C-7C6C1E12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91241-2FC4-68D6-7A7A-DA293AA2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48D1-86A7-C4EE-E394-DED32836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9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3E8E-A181-774F-9F9D-DB8A2787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43DAD-E052-B83F-9EB6-3EAA29DDD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CD562-1F1A-C321-C741-4B190D38F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023EF-1D62-B5D2-4CEF-C9467B53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BA9DF-714B-16EC-8C16-FEA6AFC4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57770-90AD-1C91-4FDC-BB688928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73517-B11E-93A5-4E19-59769E2DA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C5B26-E585-2332-430D-22650AFEF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2097D-19C5-2704-3043-D92EB832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F9DDD-26A9-C3B7-807E-88D24A2B4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1D324-CCDE-C65A-E721-D630D1CA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183F5-16B0-4EB4-D38C-0DA82912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B0755-606E-0BD8-6D71-49B376CA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1DACF-66CA-9EF0-0AF3-554B89A31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9C06AD-4047-CA2A-EDEA-793E457EE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BAD8C-3D96-0DF3-8346-C597ADC2B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23D83-A00B-A1FD-EB2B-9A049BD2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777D8-7F48-65C8-572A-6E2F02FB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D8EA24-957C-520D-3D24-FA44359A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5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5F53-B4A3-C901-3EB9-3F75A9C8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8E1BB-88A1-470F-52EB-8AD5EE77B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5EE06-1F90-A26C-D766-91FE34D7B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92489-B682-CFFA-A598-EDCB271F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0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B5AF88-9A37-CF3F-7DF7-8092E303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E8491-F99B-E708-C17F-A4B6EFE0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F2036-BD12-F448-932B-7772A798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9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451B-3B40-D1B6-F9CD-69FA7D82F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FDCAD-90CE-1951-1670-8FABC8FA9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E69BD-F5FC-D4B6-D70E-5D4C77E5A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16B63-53CD-1702-BB55-E6D656195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ED90D-0F80-4520-8E25-A62360EE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7579D-D45E-7FB0-6365-79DDC03E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6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885E-A644-DEA2-B0B5-72DFA5C1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6BC18-55BB-7E5E-8620-5925E91D0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EC898-5248-4BF5-30EC-969A35B84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338F4-79CD-B987-80D1-0218BE82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0FED0-0592-37E6-2BAE-B4E2C149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4B5A9-4F06-DAA7-E671-77B48C8F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3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4EC96-9F01-9E42-451A-B3156C74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84C6B-3895-8829-93BF-C48436969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6DAAA-CD38-A777-F64A-88A613D17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245B7-CFE9-C07B-D3EF-F5845E6B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8579F-B35C-0026-B97D-2494E1B9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9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D5410-EA1D-C021-5149-1CDC15FA3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49E39-160E-EA36-0036-97E811B1D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3641D-5093-A1C1-09F7-11E8A26B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27A77-B4EF-76E7-4365-43068FD2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57802-D7FC-EF85-BD5E-20C13FF9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7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1AA1F-464F-0AE4-4BDF-FC26F0118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9A0B5-55A4-C3C8-D3EE-89CBEE603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02770-4521-0633-F95B-EBE658067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C0333-67F5-402F-94EA-8A59EC684E0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ED6CF-8864-7D84-7F86-8868A51C3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F1333-4EAE-11E1-0226-E9EC2CBDB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F0600-1030-42D2-A62A-B781DAF5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2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hohinurpervezshohan/freelancer-earnings-and-job-trend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samar-balousha-58750a258/" TargetMode="External"/><Relationship Id="rId4" Type="http://schemas.openxmlformats.org/officeDocument/2006/relationships/hyperlink" Target="https://github.com/Samarbal/Freelancers-Earnings-Analysi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AFE44A45-6F45-E812-4B8A-001D83FF176E}"/>
              </a:ext>
            </a:extLst>
          </p:cNvPr>
          <p:cNvGrpSpPr/>
          <p:nvPr/>
        </p:nvGrpSpPr>
        <p:grpSpPr>
          <a:xfrm>
            <a:off x="22832" y="0"/>
            <a:ext cx="2763297" cy="6858000"/>
            <a:chOff x="0" y="0"/>
            <a:chExt cx="852938" cy="270933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922071F-25C6-66E9-C741-D4F4AEDEBE15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8BC93B1B-2315-D924-EB7A-C93C5F95E8A4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B7EB7A5B-1743-06D6-F4BD-C943DEA2C0B8}"/>
              </a:ext>
            </a:extLst>
          </p:cNvPr>
          <p:cNvGrpSpPr/>
          <p:nvPr/>
        </p:nvGrpSpPr>
        <p:grpSpPr>
          <a:xfrm>
            <a:off x="1061775" y="985902"/>
            <a:ext cx="4116265" cy="5018105"/>
            <a:chOff x="0" y="0"/>
            <a:chExt cx="928643" cy="1156192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019F1EA-9169-CF21-B0AB-41F774F765F3}"/>
                </a:ext>
              </a:extLst>
            </p:cNvPr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3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5ECD2BE2-2B04-E28F-5F52-F2F51CEB9292}"/>
              </a:ext>
            </a:extLst>
          </p:cNvPr>
          <p:cNvGrpSpPr/>
          <p:nvPr/>
        </p:nvGrpSpPr>
        <p:grpSpPr>
          <a:xfrm>
            <a:off x="5628096" y="493967"/>
            <a:ext cx="6320413" cy="3301932"/>
            <a:chOff x="-256605" y="-9525"/>
            <a:chExt cx="11613005" cy="6866165"/>
          </a:xfrm>
        </p:grpSpPr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43052E4D-80C6-8BA1-E071-9A4009674615}"/>
                </a:ext>
              </a:extLst>
            </p:cNvPr>
            <p:cNvSpPr txBox="1"/>
            <p:nvPr/>
          </p:nvSpPr>
          <p:spPr>
            <a:xfrm>
              <a:off x="-256605" y="1898755"/>
              <a:ext cx="11613005" cy="4957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4800" b="1" spc="-89" dirty="0">
                  <a:solidFill>
                    <a:srgbClr val="F2E9D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Freelancing Earning &amp; Job Trends  Insights</a:t>
              </a:r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5A0EE3F1-E67B-6A98-A03A-0433EF1B4331}"/>
                </a:ext>
              </a:extLst>
            </p:cNvPr>
            <p:cNvSpPr txBox="1"/>
            <p:nvPr/>
          </p:nvSpPr>
          <p:spPr>
            <a:xfrm>
              <a:off x="0" y="-9525"/>
              <a:ext cx="11099800" cy="880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endParaRPr lang="en-US" sz="2999" b="1" spc="-29" dirty="0">
                <a:solidFill>
                  <a:srgbClr val="F2E9D8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sp>
        <p:nvSpPr>
          <p:cNvPr id="12" name="TextBox 10">
            <a:extLst>
              <a:ext uri="{FF2B5EF4-FFF2-40B4-BE49-F238E27FC236}">
                <a16:creationId xmlns:a16="http://schemas.microsoft.com/office/drawing/2014/main" id="{86D76849-F6D8-ACE9-50B7-172C48D74662}"/>
              </a:ext>
            </a:extLst>
          </p:cNvPr>
          <p:cNvSpPr txBox="1"/>
          <p:nvPr/>
        </p:nvSpPr>
        <p:spPr>
          <a:xfrm>
            <a:off x="9296400" y="9144000"/>
            <a:ext cx="83248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spc="-3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[Presenter Name], Tutor and Mentor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367F14-236F-A3C5-7B4C-5FD2C428098F}"/>
              </a:ext>
            </a:extLst>
          </p:cNvPr>
          <p:cNvSpPr txBox="1"/>
          <p:nvPr/>
        </p:nvSpPr>
        <p:spPr>
          <a:xfrm>
            <a:off x="6018963" y="4833798"/>
            <a:ext cx="6180755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800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Name </a:t>
            </a:r>
            <a:r>
              <a:rPr lang="en-US" sz="3200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  <a:r>
              <a:rPr lang="en-US" sz="3200" b="1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Samar Balousha </a:t>
            </a:r>
            <a:endParaRPr lang="en-US" sz="2800" b="1" spc="-30" dirty="0">
              <a:solidFill>
                <a:srgbClr val="F2E9D8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300"/>
              </a:lnSpc>
            </a:pPr>
            <a:r>
              <a:rPr lang="en-US" sz="2800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Tutor : </a:t>
            </a:r>
            <a:r>
              <a:rPr lang="en-US" sz="2800" b="1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Ameer Al-</a:t>
            </a:r>
            <a:r>
              <a:rPr lang="en-US" sz="2800" b="1" spc="-30" dirty="0" err="1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Halewani</a:t>
            </a:r>
            <a:r>
              <a:rPr lang="en-US" sz="2800" b="1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</a:p>
          <a:p>
            <a:pPr marL="0" lvl="0" indent="0" algn="l">
              <a:lnSpc>
                <a:spcPts val="3300"/>
              </a:lnSpc>
            </a:pPr>
            <a:r>
              <a:rPr lang="en-US" sz="2800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Mentor : </a:t>
            </a:r>
            <a:r>
              <a:rPr lang="en-US" sz="2800" b="1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Ammar </a:t>
            </a:r>
            <a:r>
              <a:rPr lang="en-US" sz="2800" b="1" spc="-30" dirty="0" err="1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Alnatour</a:t>
            </a:r>
            <a:r>
              <a:rPr lang="en-US" sz="2800" b="1" spc="-3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EFCD4B-1363-3925-B59B-176E3F2F3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535" y="0"/>
            <a:ext cx="3537634" cy="98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34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97"/>
    </mc:Choice>
    <mc:Fallback>
      <p:transition spd="slow" advTm="14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D94DB16D-8B7F-3D31-6276-1EDEC8E6C91B}"/>
              </a:ext>
            </a:extLst>
          </p:cNvPr>
          <p:cNvGrpSpPr/>
          <p:nvPr/>
        </p:nvGrpSpPr>
        <p:grpSpPr>
          <a:xfrm>
            <a:off x="9409392" y="-1"/>
            <a:ext cx="2782608" cy="6858001"/>
            <a:chOff x="0" y="0"/>
            <a:chExt cx="852938" cy="2709333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46A6335A-C2A9-E6FC-0091-5EB77156BEAD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A6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B65DBD9E-2967-95C8-7AC1-3083237C46B5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3">
            <a:extLst>
              <a:ext uri="{FF2B5EF4-FFF2-40B4-BE49-F238E27FC236}">
                <a16:creationId xmlns:a16="http://schemas.microsoft.com/office/drawing/2014/main" id="{9C9D4890-36F0-F7CD-6755-50C13616A5D2}"/>
              </a:ext>
            </a:extLst>
          </p:cNvPr>
          <p:cNvSpPr txBox="1"/>
          <p:nvPr/>
        </p:nvSpPr>
        <p:spPr>
          <a:xfrm>
            <a:off x="640178" y="476446"/>
            <a:ext cx="8573651" cy="4015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6000" b="1" spc="-70" dirty="0">
                <a:solidFill>
                  <a:srgbClr val="F2E9D8"/>
                </a:solidFill>
                <a:latin typeface="Telegraf Bold"/>
                <a:ea typeface="Telegraf Bold"/>
                <a:cs typeface="Telegraf Bold"/>
                <a:sym typeface="Telegraf Bold"/>
              </a:rPr>
              <a:t>Goals</a:t>
            </a:r>
            <a:r>
              <a:rPr lang="en-US" sz="7000" b="1" spc="-70" dirty="0">
                <a:solidFill>
                  <a:srgbClr val="F2E9D8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D99AC-3FFE-D94E-3A2C-2C923E49F81F}"/>
              </a:ext>
            </a:extLst>
          </p:cNvPr>
          <p:cNvSpPr txBox="1"/>
          <p:nvPr/>
        </p:nvSpPr>
        <p:spPr>
          <a:xfrm>
            <a:off x="835741" y="1759974"/>
            <a:ext cx="75118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F2E9D8"/>
                </a:solidFill>
              </a:rPr>
              <a:t>Enable strategic decision-making by identifying the key drivers of </a:t>
            </a:r>
            <a:r>
              <a:rPr lang="en-US" sz="2000" b="1" dirty="0">
                <a:solidFill>
                  <a:srgbClr val="F2E9D8"/>
                </a:solidFill>
              </a:rPr>
              <a:t>Earnings Efficiency</a:t>
            </a:r>
            <a:r>
              <a:rPr lang="en-US" sz="2000" dirty="0">
                <a:solidFill>
                  <a:srgbClr val="F2E9D8"/>
                </a:solidFill>
              </a:rPr>
              <a:t> and </a:t>
            </a:r>
            <a:r>
              <a:rPr lang="en-US" sz="2000" b="1" dirty="0">
                <a:solidFill>
                  <a:srgbClr val="F2E9D8"/>
                </a:solidFill>
              </a:rPr>
              <a:t>Client Loyalty</a:t>
            </a:r>
            <a:r>
              <a:rPr lang="en-US" sz="2000" dirty="0">
                <a:solidFill>
                  <a:srgbClr val="F2E9D8"/>
                </a:solidFill>
              </a:rPr>
              <a:t> across global freelancing markets.</a:t>
            </a:r>
          </a:p>
          <a:p>
            <a:endParaRPr lang="en-US" sz="2000" dirty="0">
              <a:solidFill>
                <a:srgbClr val="F2E9D8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2E9D8"/>
                </a:solidFill>
              </a:rPr>
              <a:t>Monitor overall performance and market distribution metrics.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2E9D8"/>
                </a:solidFill>
              </a:rPr>
              <a:t>Quantify the impact of client rating and experience on retention rates.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2E9D8"/>
                </a:solidFill>
              </a:rPr>
              <a:t>Optimize marketing spend by identifying platforms with the highest ROI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2E9D8"/>
                </a:solidFill>
              </a:rPr>
              <a:t>Determine the relationship between platform choice, experience, and hourly pay.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15974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84004B-7611-ED1D-1E2F-97D9FAA8C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28"/>
            <a:ext cx="12191999" cy="682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36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ADF44-63F1-BF6E-2967-0920189B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71"/>
            <a:ext cx="12192000" cy="682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29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FC4F66-8D8F-12E7-6716-C032CD832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43"/>
            <a:ext cx="12191999" cy="686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2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68B5F-64C9-C649-0567-8D3892C0F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838"/>
            <a:ext cx="12192000" cy="691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36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D9CC5-CB34-BD53-7EFC-368D60416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9"/>
            <a:ext cx="12192000" cy="68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9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5F972A-1EEB-33ED-B1BC-8F80DA76D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865483"/>
              </p:ext>
            </p:extLst>
          </p:nvPr>
        </p:nvGraphicFramePr>
        <p:xfrm>
          <a:off x="5984240" y="1682961"/>
          <a:ext cx="5496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560">
                  <a:extLst>
                    <a:ext uri="{9D8B030D-6E8A-4147-A177-3AD203B41FA5}">
                      <a16:colId xmlns:a16="http://schemas.microsoft.com/office/drawing/2014/main" val="3529938059"/>
                    </a:ext>
                  </a:extLst>
                </a:gridCol>
              </a:tblGrid>
              <a:tr h="155807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rgbClr val="03325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📊 Summary of Correlation Strength</a:t>
                      </a:r>
                    </a:p>
                    <a:p>
                      <a:r>
                        <a:rPr lang="en-US" sz="1800" b="1" kern="1200" dirty="0">
                          <a:solidFill>
                            <a:srgbClr val="03325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Overall Correlation is Very Weak: All linear relationships between </a:t>
                      </a:r>
                      <a:r>
                        <a:rPr lang="en-US" sz="1800" b="1" kern="1200" dirty="0" err="1">
                          <a:solidFill>
                            <a:srgbClr val="03325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Earnings_USD</a:t>
                      </a:r>
                      <a:r>
                        <a:rPr lang="en-US" sz="1800" b="1" kern="1200" dirty="0">
                          <a:solidFill>
                            <a:srgbClr val="03325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the other variables are extremely weak, with correlation values close to zero (around $\pm 0.04$).</a:t>
                      </a:r>
                    </a:p>
                    <a:p>
                      <a:r>
                        <a:rPr lang="en-US" sz="1800" b="1" kern="1200" dirty="0">
                          <a:solidFill>
                            <a:srgbClr val="03325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Negligible Highest Positive Correlation: The highest positive correlation was found with </a:t>
                      </a:r>
                      <a:r>
                        <a:rPr lang="en-US" sz="1800" b="1" kern="1200" dirty="0" err="1">
                          <a:solidFill>
                            <a:srgbClr val="03325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Marketing_Spend</a:t>
                      </a:r>
                      <a:r>
                        <a:rPr lang="en-US" sz="1800" b="1" kern="1200" dirty="0">
                          <a:solidFill>
                            <a:srgbClr val="03325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at $+0.04$, which is still too weak for reliable linear prediction.</a:t>
                      </a:r>
                    </a:p>
                    <a:p>
                      <a:r>
                        <a:rPr lang="en-US" sz="1800" b="1" kern="1200" dirty="0">
                          <a:solidFill>
                            <a:srgbClr val="03325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No Strong Independent Feature Correlation: There are no strong correlations among the independent features themselves (no multicollinearity), suggesting the features are largely independent of one another.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5999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D015413-0591-4CC0-FC02-91F04BDD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34" y="1573132"/>
            <a:ext cx="5404086" cy="41515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F3DE30-E7BC-D912-7E28-983D28531E70}"/>
              </a:ext>
            </a:extLst>
          </p:cNvPr>
          <p:cNvSpPr/>
          <p:nvPr/>
        </p:nvSpPr>
        <p:spPr>
          <a:xfrm>
            <a:off x="1107440" y="328718"/>
            <a:ext cx="9458960" cy="1097280"/>
          </a:xfrm>
          <a:prstGeom prst="roundRect">
            <a:avLst/>
          </a:prstGeom>
          <a:solidFill>
            <a:srgbClr val="C0E0D8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D4A84"/>
                </a:solidFill>
              </a:rPr>
              <a:t>Linear Correlation Analysis of Numerical Features</a:t>
            </a:r>
          </a:p>
          <a:p>
            <a:pPr algn="ctr"/>
            <a:r>
              <a:rPr lang="en-US" sz="2000" dirty="0">
                <a:solidFill>
                  <a:srgbClr val="0D4A84"/>
                </a:solidFill>
              </a:rPr>
              <a:t>Are quantitative factors directly related to Earning?</a:t>
            </a:r>
          </a:p>
        </p:txBody>
      </p:sp>
      <p:sp>
        <p:nvSpPr>
          <p:cNvPr id="2" name="AutoShape 21">
            <a:extLst>
              <a:ext uri="{FF2B5EF4-FFF2-40B4-BE49-F238E27FC236}">
                <a16:creationId xmlns:a16="http://schemas.microsoft.com/office/drawing/2014/main" id="{C26A4C50-2A87-DA5F-965E-560F8D2B738D}"/>
              </a:ext>
            </a:extLst>
          </p:cNvPr>
          <p:cNvSpPr/>
          <p:nvPr/>
        </p:nvSpPr>
        <p:spPr>
          <a:xfrm>
            <a:off x="0" y="6703781"/>
            <a:ext cx="12192000" cy="15912"/>
          </a:xfrm>
          <a:prstGeom prst="line">
            <a:avLst/>
          </a:prstGeom>
          <a:ln w="9525" cap="flat">
            <a:gradFill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CF19-4E6F-B41F-EFD5-035B9992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6" y="7502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2E9D8"/>
                </a:solidFill>
              </a:rPr>
              <a:t>SWOT Analysis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9C89AC2F-E620-901F-4E1C-D85567CE7DC1}"/>
              </a:ext>
            </a:extLst>
          </p:cNvPr>
          <p:cNvGrpSpPr/>
          <p:nvPr/>
        </p:nvGrpSpPr>
        <p:grpSpPr>
          <a:xfrm>
            <a:off x="898710" y="1550258"/>
            <a:ext cx="1290080" cy="1482940"/>
            <a:chOff x="0" y="-22527"/>
            <a:chExt cx="736600" cy="759127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0FB1324A-526F-62C6-790A-97E9AE2BB573}"/>
                </a:ext>
              </a:extLst>
            </p:cNvPr>
            <p:cNvSpPr/>
            <p:nvPr/>
          </p:nvSpPr>
          <p:spPr>
            <a:xfrm>
              <a:off x="0" y="-22527"/>
              <a:ext cx="660400" cy="598288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r>
                <a:rPr lang="en-US" sz="6600" dirty="0"/>
                <a:t> </a:t>
              </a:r>
              <a:r>
                <a:rPr lang="en-US" sz="6600" b="1" dirty="0">
                  <a:solidFill>
                    <a:srgbClr val="F2E9D8"/>
                  </a:solidFill>
                </a:rPr>
                <a:t>S</a:t>
              </a:r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9D3B9E5A-ABFA-4E56-CB00-9C82657675D8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E87F7D37-FA97-03F6-F815-B1F5DFCCD1A6}"/>
              </a:ext>
            </a:extLst>
          </p:cNvPr>
          <p:cNvGrpSpPr/>
          <p:nvPr/>
        </p:nvGrpSpPr>
        <p:grpSpPr>
          <a:xfrm>
            <a:off x="3277644" y="3684077"/>
            <a:ext cx="2644991" cy="2964614"/>
            <a:chOff x="0" y="-19049"/>
            <a:chExt cx="5085019" cy="2683358"/>
          </a:xfrm>
        </p:grpSpPr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8853C693-86E4-0BAC-746C-1642C1DB2542}"/>
                </a:ext>
              </a:extLst>
            </p:cNvPr>
            <p:cNvSpPr txBox="1"/>
            <p:nvPr/>
          </p:nvSpPr>
          <p:spPr>
            <a:xfrm>
              <a:off x="0" y="-19049"/>
              <a:ext cx="5085019" cy="628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F2E9D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Weakness</a:t>
              </a:r>
            </a:p>
          </p:txBody>
        </p:sp>
        <p:sp>
          <p:nvSpPr>
            <p:cNvPr id="22" name="TextBox 23">
              <a:extLst>
                <a:ext uri="{FF2B5EF4-FFF2-40B4-BE49-F238E27FC236}">
                  <a16:creationId xmlns:a16="http://schemas.microsoft.com/office/drawing/2014/main" id="{56450826-B1AE-B576-199D-372EC7C8B8BA}"/>
                </a:ext>
              </a:extLst>
            </p:cNvPr>
            <p:cNvSpPr txBox="1"/>
            <p:nvPr/>
          </p:nvSpPr>
          <p:spPr>
            <a:xfrm>
              <a:off x="0" y="738294"/>
              <a:ext cx="5085019" cy="1926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ts val="2800"/>
                </a:lnSpc>
              </a:pPr>
              <a:r>
                <a:rPr lang="en-US" dirty="0">
                  <a:solidFill>
                    <a:srgbClr val="F2E9D8"/>
                  </a:solidFill>
                </a:rPr>
                <a:t>Failure to monetize high ratings: Top-rated clients (5.0) show lower loyalty, and earnings are flat across all client rating tiers.</a:t>
              </a:r>
              <a:endParaRPr lang="en-US" spc="-2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26" name="Group 2">
            <a:extLst>
              <a:ext uri="{FF2B5EF4-FFF2-40B4-BE49-F238E27FC236}">
                <a16:creationId xmlns:a16="http://schemas.microsoft.com/office/drawing/2014/main" id="{83884583-B791-D7CA-3B23-C150E4D94B36}"/>
              </a:ext>
            </a:extLst>
          </p:cNvPr>
          <p:cNvGrpSpPr/>
          <p:nvPr/>
        </p:nvGrpSpPr>
        <p:grpSpPr>
          <a:xfrm>
            <a:off x="3870826" y="1295020"/>
            <a:ext cx="1156625" cy="1482940"/>
            <a:chOff x="76199" y="0"/>
            <a:chExt cx="660401" cy="759127"/>
          </a:xfrm>
        </p:grpSpPr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0FCE9009-F0E0-8F23-BE2B-FF54885D5115}"/>
                </a:ext>
              </a:extLst>
            </p:cNvPr>
            <p:cNvSpPr/>
            <p:nvPr/>
          </p:nvSpPr>
          <p:spPr>
            <a:xfrm>
              <a:off x="76199" y="160839"/>
              <a:ext cx="660400" cy="598288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r>
                <a:rPr lang="en-US" sz="66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 </a:t>
              </a:r>
              <a:r>
                <a:rPr lang="en-US" sz="6600" b="1" dirty="0">
                  <a:solidFill>
                    <a:srgbClr val="F2E9D8"/>
                  </a:solidFill>
                </a:rPr>
                <a:t>W</a:t>
              </a:r>
            </a:p>
          </p:txBody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FC429006-FA49-9889-C12E-8FA89E7E057B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9" name="Group 2">
            <a:extLst>
              <a:ext uri="{FF2B5EF4-FFF2-40B4-BE49-F238E27FC236}">
                <a16:creationId xmlns:a16="http://schemas.microsoft.com/office/drawing/2014/main" id="{AED7F5CD-D1A9-70C6-11C4-4CF0A4439F33}"/>
              </a:ext>
            </a:extLst>
          </p:cNvPr>
          <p:cNvGrpSpPr/>
          <p:nvPr/>
        </p:nvGrpSpPr>
        <p:grpSpPr>
          <a:xfrm>
            <a:off x="6709487" y="1506252"/>
            <a:ext cx="1290080" cy="1482940"/>
            <a:chOff x="0" y="-22527"/>
            <a:chExt cx="736600" cy="759127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A3DDE877-A34E-3FE6-9130-2D000111367B}"/>
                </a:ext>
              </a:extLst>
            </p:cNvPr>
            <p:cNvSpPr/>
            <p:nvPr/>
          </p:nvSpPr>
          <p:spPr>
            <a:xfrm>
              <a:off x="0" y="-22527"/>
              <a:ext cx="660400" cy="598288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r>
                <a:rPr lang="en-US" sz="66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 </a:t>
              </a:r>
              <a:r>
                <a:rPr lang="en-US" sz="6600" b="1" dirty="0">
                  <a:solidFill>
                    <a:srgbClr val="F2E9D8"/>
                  </a:solidFill>
                </a:rPr>
                <a:t>O</a:t>
              </a:r>
            </a:p>
          </p:txBody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26B473DD-3B00-B136-F634-37B4B58B0CF5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B5BB28B-2E27-DA36-94A9-767C55598A27}"/>
              </a:ext>
            </a:extLst>
          </p:cNvPr>
          <p:cNvGrpSpPr/>
          <p:nvPr/>
        </p:nvGrpSpPr>
        <p:grpSpPr>
          <a:xfrm>
            <a:off x="9548146" y="1430115"/>
            <a:ext cx="1290080" cy="1482940"/>
            <a:chOff x="0" y="-22527"/>
            <a:chExt cx="736600" cy="759127"/>
          </a:xfrm>
        </p:grpSpPr>
        <p:sp>
          <p:nvSpPr>
            <p:cNvPr id="33" name="Freeform 3">
              <a:extLst>
                <a:ext uri="{FF2B5EF4-FFF2-40B4-BE49-F238E27FC236}">
                  <a16:creationId xmlns:a16="http://schemas.microsoft.com/office/drawing/2014/main" id="{FB98A0DC-2253-37C8-B943-9FE856339133}"/>
                </a:ext>
              </a:extLst>
            </p:cNvPr>
            <p:cNvSpPr/>
            <p:nvPr/>
          </p:nvSpPr>
          <p:spPr>
            <a:xfrm>
              <a:off x="0" y="-22527"/>
              <a:ext cx="660400" cy="598288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r>
                <a:rPr lang="en-US" dirty="0"/>
                <a:t>      </a:t>
              </a:r>
              <a:r>
                <a:rPr lang="en-US" sz="6600" b="1" dirty="0">
                  <a:solidFill>
                    <a:srgbClr val="F2E9D8"/>
                  </a:solidFill>
                </a:rPr>
                <a:t>T</a:t>
              </a:r>
              <a:endParaRPr lang="en-US" b="1" dirty="0">
                <a:solidFill>
                  <a:srgbClr val="F2E9D8"/>
                </a:solidFill>
              </a:endParaRPr>
            </a:p>
          </p:txBody>
        </p:sp>
        <p:sp>
          <p:nvSpPr>
            <p:cNvPr id="34" name="TextBox 4">
              <a:extLst>
                <a:ext uri="{FF2B5EF4-FFF2-40B4-BE49-F238E27FC236}">
                  <a16:creationId xmlns:a16="http://schemas.microsoft.com/office/drawing/2014/main" id="{0EEF2673-B6C8-173E-255E-86C27AC15EFE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5" name="Group 21">
            <a:extLst>
              <a:ext uri="{FF2B5EF4-FFF2-40B4-BE49-F238E27FC236}">
                <a16:creationId xmlns:a16="http://schemas.microsoft.com/office/drawing/2014/main" id="{20689D34-3D03-4737-3A7D-A671C0A5E972}"/>
              </a:ext>
            </a:extLst>
          </p:cNvPr>
          <p:cNvGrpSpPr/>
          <p:nvPr/>
        </p:nvGrpSpPr>
        <p:grpSpPr>
          <a:xfrm>
            <a:off x="320948" y="3684077"/>
            <a:ext cx="2644991" cy="2612595"/>
            <a:chOff x="0" y="-19049"/>
            <a:chExt cx="5085019" cy="2364735"/>
          </a:xfrm>
        </p:grpSpPr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ED6D13A8-0BE5-7CF2-FF36-D390F1F6FD2C}"/>
                </a:ext>
              </a:extLst>
            </p:cNvPr>
            <p:cNvSpPr txBox="1"/>
            <p:nvPr/>
          </p:nvSpPr>
          <p:spPr>
            <a:xfrm>
              <a:off x="0" y="-19049"/>
              <a:ext cx="5085019" cy="383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F2E9D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Strength </a:t>
              </a:r>
            </a:p>
          </p:txBody>
        </p:sp>
        <p:sp>
          <p:nvSpPr>
            <p:cNvPr id="37" name="TextBox 23">
              <a:extLst>
                <a:ext uri="{FF2B5EF4-FFF2-40B4-BE49-F238E27FC236}">
                  <a16:creationId xmlns:a16="http://schemas.microsoft.com/office/drawing/2014/main" id="{AF4D411A-970E-8523-2462-B6A70A99BF2D}"/>
                </a:ext>
              </a:extLst>
            </p:cNvPr>
            <p:cNvSpPr txBox="1"/>
            <p:nvPr/>
          </p:nvSpPr>
          <p:spPr>
            <a:xfrm>
              <a:off x="0" y="738294"/>
              <a:ext cx="5085019" cy="1607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ts val="2800"/>
                </a:lnSpc>
              </a:pPr>
              <a:r>
                <a:rPr lang="en-US" dirty="0">
                  <a:solidFill>
                    <a:srgbClr val="F2E9D8"/>
                  </a:solidFill>
                </a:rPr>
                <a:t>High overall Job Success Rate (~75%) and a strong Rehire Rate (44.56%) demonstrate high general client satisfaction</a:t>
              </a:r>
              <a:r>
                <a:rPr lang="en-US" sz="2000" dirty="0">
                  <a:solidFill>
                    <a:srgbClr val="F2E9D8"/>
                  </a:solidFill>
                </a:rPr>
                <a:t>.</a:t>
              </a:r>
              <a:endParaRPr lang="en-US" sz="2000" spc="-2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38" name="Group 21">
            <a:extLst>
              <a:ext uri="{FF2B5EF4-FFF2-40B4-BE49-F238E27FC236}">
                <a16:creationId xmlns:a16="http://schemas.microsoft.com/office/drawing/2014/main" id="{BE4EDE23-0D8F-F7EF-09E6-846ED0F2B927}"/>
              </a:ext>
            </a:extLst>
          </p:cNvPr>
          <p:cNvGrpSpPr/>
          <p:nvPr/>
        </p:nvGrpSpPr>
        <p:grpSpPr>
          <a:xfrm>
            <a:off x="6269367" y="3684077"/>
            <a:ext cx="2819730" cy="2971668"/>
            <a:chOff x="0" y="-19049"/>
            <a:chExt cx="5420956" cy="2689742"/>
          </a:xfrm>
        </p:grpSpPr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886F0F7B-86CE-2648-89AA-BA0AAAF820A2}"/>
                </a:ext>
              </a:extLst>
            </p:cNvPr>
            <p:cNvSpPr txBox="1"/>
            <p:nvPr/>
          </p:nvSpPr>
          <p:spPr>
            <a:xfrm>
              <a:off x="0" y="-19049"/>
              <a:ext cx="5085019" cy="383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F2E9D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Opportunities </a:t>
              </a:r>
            </a:p>
          </p:txBody>
        </p:sp>
        <p:sp>
          <p:nvSpPr>
            <p:cNvPr id="40" name="TextBox 23">
              <a:extLst>
                <a:ext uri="{FF2B5EF4-FFF2-40B4-BE49-F238E27FC236}">
                  <a16:creationId xmlns:a16="http://schemas.microsoft.com/office/drawing/2014/main" id="{4392345D-A523-9398-3186-2238C80EF15F}"/>
                </a:ext>
              </a:extLst>
            </p:cNvPr>
            <p:cNvSpPr txBox="1"/>
            <p:nvPr/>
          </p:nvSpPr>
          <p:spPr>
            <a:xfrm>
              <a:off x="0" y="738294"/>
              <a:ext cx="5420956" cy="1932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2800"/>
                </a:lnSpc>
              </a:pPr>
              <a:r>
                <a:rPr lang="en-US" dirty="0">
                  <a:solidFill>
                    <a:srgbClr val="F2E9D8"/>
                  </a:solidFill>
                </a:rPr>
                <a:t>High-Wage Category Growth: Focus recruitment efforts on </a:t>
              </a:r>
              <a:r>
                <a:rPr lang="en-US" b="1" dirty="0">
                  <a:solidFill>
                    <a:srgbClr val="F2E9D8"/>
                  </a:solidFill>
                </a:rPr>
                <a:t>App Development</a:t>
              </a:r>
              <a:r>
                <a:rPr lang="en-US" dirty="0">
                  <a:solidFill>
                    <a:srgbClr val="F2E9D8"/>
                  </a:solidFill>
                </a:rPr>
                <a:t> and </a:t>
              </a:r>
              <a:r>
                <a:rPr lang="en-US" b="1" dirty="0">
                  <a:solidFill>
                    <a:srgbClr val="F2E9D8"/>
                  </a:solidFill>
                </a:rPr>
                <a:t>Graphic Design</a:t>
              </a:r>
              <a:r>
                <a:rPr lang="en-US" dirty="0">
                  <a:solidFill>
                    <a:srgbClr val="F2E9D8"/>
                  </a:solidFill>
                </a:rPr>
                <a:t> to significantly boost average earnings</a:t>
              </a:r>
              <a:r>
                <a:rPr lang="en-US" sz="2000" dirty="0"/>
                <a:t>.</a:t>
              </a:r>
              <a:endParaRPr lang="en-US" sz="2000" spc="-2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41" name="Group 21">
            <a:extLst>
              <a:ext uri="{FF2B5EF4-FFF2-40B4-BE49-F238E27FC236}">
                <a16:creationId xmlns:a16="http://schemas.microsoft.com/office/drawing/2014/main" id="{5B23034C-79FF-6A18-5CD2-49325EF0B11B}"/>
              </a:ext>
            </a:extLst>
          </p:cNvPr>
          <p:cNvGrpSpPr/>
          <p:nvPr/>
        </p:nvGrpSpPr>
        <p:grpSpPr>
          <a:xfrm>
            <a:off x="9089097" y="3684077"/>
            <a:ext cx="2819730" cy="2964614"/>
            <a:chOff x="0" y="-19049"/>
            <a:chExt cx="5420956" cy="2683358"/>
          </a:xfrm>
        </p:grpSpPr>
        <p:sp>
          <p:nvSpPr>
            <p:cNvPr id="42" name="TextBox 22">
              <a:extLst>
                <a:ext uri="{FF2B5EF4-FFF2-40B4-BE49-F238E27FC236}">
                  <a16:creationId xmlns:a16="http://schemas.microsoft.com/office/drawing/2014/main" id="{F16B5DBD-3C88-AAF4-E37D-444A54532717}"/>
                </a:ext>
              </a:extLst>
            </p:cNvPr>
            <p:cNvSpPr txBox="1"/>
            <p:nvPr/>
          </p:nvSpPr>
          <p:spPr>
            <a:xfrm>
              <a:off x="0" y="-19049"/>
              <a:ext cx="5085019" cy="383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F2E9D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Threats </a:t>
              </a:r>
            </a:p>
          </p:txBody>
        </p:sp>
        <p:sp>
          <p:nvSpPr>
            <p:cNvPr id="43" name="TextBox 23">
              <a:extLst>
                <a:ext uri="{FF2B5EF4-FFF2-40B4-BE49-F238E27FC236}">
                  <a16:creationId xmlns:a16="http://schemas.microsoft.com/office/drawing/2014/main" id="{B828422B-D26A-C988-AAE3-B294DE866DF1}"/>
                </a:ext>
              </a:extLst>
            </p:cNvPr>
            <p:cNvSpPr txBox="1"/>
            <p:nvPr/>
          </p:nvSpPr>
          <p:spPr>
            <a:xfrm>
              <a:off x="0" y="738294"/>
              <a:ext cx="5420956" cy="19260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2800"/>
                </a:lnSpc>
              </a:pPr>
              <a:r>
                <a:rPr lang="en-US" dirty="0">
                  <a:solidFill>
                    <a:srgbClr val="F2E9D8"/>
                  </a:solidFill>
                </a:rPr>
                <a:t>Inefficient Marketing Spend: Marketing investment on certain platforms does not generate proportional returns, posing a threat of wasted budget.</a:t>
              </a:r>
              <a:endParaRPr lang="en-US" spc="-20" dirty="0">
                <a:solidFill>
                  <a:srgbClr val="F2E9D8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44" name="AutoShape 21">
            <a:extLst>
              <a:ext uri="{FF2B5EF4-FFF2-40B4-BE49-F238E27FC236}">
                <a16:creationId xmlns:a16="http://schemas.microsoft.com/office/drawing/2014/main" id="{C42E3425-3836-EB8B-04AF-38BB4E03EC73}"/>
              </a:ext>
            </a:extLst>
          </p:cNvPr>
          <p:cNvSpPr/>
          <p:nvPr/>
        </p:nvSpPr>
        <p:spPr>
          <a:xfrm>
            <a:off x="0" y="135833"/>
            <a:ext cx="12192000" cy="15912"/>
          </a:xfrm>
          <a:prstGeom prst="line">
            <a:avLst/>
          </a:prstGeom>
          <a:ln w="9525" cap="flat">
            <a:gradFill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AutoShape 21">
            <a:extLst>
              <a:ext uri="{FF2B5EF4-FFF2-40B4-BE49-F238E27FC236}">
                <a16:creationId xmlns:a16="http://schemas.microsoft.com/office/drawing/2014/main" id="{2AF7A4CB-9604-30DA-99DF-603E18670DD6}"/>
              </a:ext>
            </a:extLst>
          </p:cNvPr>
          <p:cNvSpPr/>
          <p:nvPr/>
        </p:nvSpPr>
        <p:spPr>
          <a:xfrm flipV="1">
            <a:off x="0" y="6767063"/>
            <a:ext cx="12047974" cy="15913"/>
          </a:xfrm>
          <a:prstGeom prst="line">
            <a:avLst/>
          </a:prstGeom>
          <a:ln w="9525" cap="flat">
            <a:gradFill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5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5692-85DA-E49A-3E69-09141233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0A020279-962E-BCC0-677E-1FDA5A0C4B50}"/>
              </a:ext>
            </a:extLst>
          </p:cNvPr>
          <p:cNvGrpSpPr/>
          <p:nvPr/>
        </p:nvGrpSpPr>
        <p:grpSpPr>
          <a:xfrm>
            <a:off x="9055511" y="-192881"/>
            <a:ext cx="3136490" cy="7050881"/>
            <a:chOff x="0" y="-76200"/>
            <a:chExt cx="852938" cy="2785533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3093BE03-3457-DD2B-9695-61FDEE67D920}"/>
                </a:ext>
              </a:extLst>
            </p:cNvPr>
            <p:cNvSpPr/>
            <p:nvPr/>
          </p:nvSpPr>
          <p:spPr>
            <a:xfrm>
              <a:off x="187165" y="0"/>
              <a:ext cx="665773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A6A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25FB613E-DD84-C22B-5FEE-F01F08C657C7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BAD369E7-771F-12FD-7D31-AD284BF6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81" y="518611"/>
            <a:ext cx="10515600" cy="975893"/>
          </a:xfrm>
        </p:spPr>
        <p:txBody>
          <a:bodyPr>
            <a:noAutofit/>
          </a:bodyPr>
          <a:lstStyle/>
          <a:p>
            <a:r>
              <a:rPr lang="en-US" b="1" spc="-70" dirty="0">
                <a:solidFill>
                  <a:srgbClr val="F2E9D8"/>
                </a:solidFill>
                <a:latin typeface="Telegraf Bold"/>
                <a:ea typeface="Telegraf Bold"/>
                <a:cs typeface="Telegraf Bold"/>
                <a:sym typeface="Telegraf Bold"/>
              </a:rPr>
              <a:t>Recommendations &amp; Strategic Actions</a:t>
            </a:r>
            <a:r>
              <a:rPr lang="en-US" sz="5400" b="1" spc="-70" dirty="0">
                <a:solidFill>
                  <a:srgbClr val="F2E9D8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br>
              <a:rPr lang="en-US" sz="5400" b="1" spc="-70" dirty="0">
                <a:solidFill>
                  <a:srgbClr val="F2E9D8"/>
                </a:solidFill>
                <a:latin typeface="Telegraf Bold"/>
                <a:ea typeface="Telegraf Bold"/>
                <a:cs typeface="Telegraf Bold"/>
                <a:sym typeface="Telegraf Bold"/>
              </a:rPr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1C93FF-D46D-DAC1-72BF-012DDD42E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1" y="1494504"/>
            <a:ext cx="8649930" cy="47901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C0E0D8"/>
                </a:solidFill>
              </a:rPr>
              <a:t>Implement ROI-Driven Marketing Allocation.</a:t>
            </a:r>
            <a:r>
              <a:rPr lang="en-US" sz="2000" dirty="0">
                <a:solidFill>
                  <a:srgbClr val="C0E0D8"/>
                </a:solidFill>
              </a:rPr>
              <a:t> Re-allocate spending based on the </a:t>
            </a:r>
            <a:r>
              <a:rPr lang="en-US" sz="2000" b="1" dirty="0">
                <a:solidFill>
                  <a:srgbClr val="C0E0D8"/>
                </a:solidFill>
              </a:rPr>
              <a:t>Spending Efficiency</a:t>
            </a:r>
            <a:r>
              <a:rPr lang="en-US" sz="2000" dirty="0">
                <a:solidFill>
                  <a:srgbClr val="C0E0D8"/>
                </a:solidFill>
              </a:rPr>
              <a:t> metric, reducing investment in low-return platforms (e.g., </a:t>
            </a:r>
            <a:r>
              <a:rPr lang="en-US" sz="2000" dirty="0" err="1">
                <a:solidFill>
                  <a:srgbClr val="C0E0D8"/>
                </a:solidFill>
              </a:rPr>
              <a:t>Toptal</a:t>
            </a:r>
            <a:r>
              <a:rPr lang="en-US" sz="2000" dirty="0">
                <a:solidFill>
                  <a:srgbClr val="C0E0D8"/>
                </a:solidFill>
              </a:rPr>
              <a:t>) and increasing focus on high-efficiency channels (e.g., Fiverr).</a:t>
            </a:r>
            <a:endParaRPr lang="ar-SA" sz="2000" dirty="0">
              <a:solidFill>
                <a:srgbClr val="C0E0D8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C0E0D8"/>
                </a:solidFill>
              </a:rPr>
              <a:t>Launch an Expert Acquisition Program.</a:t>
            </a:r>
            <a:r>
              <a:rPr lang="en-US" sz="2000" dirty="0">
                <a:solidFill>
                  <a:srgbClr val="C0E0D8"/>
                </a:solidFill>
              </a:rPr>
              <a:t> Focus recruitment efforts exclusively on </a:t>
            </a:r>
            <a:r>
              <a:rPr lang="en-US" sz="2000" b="1" dirty="0">
                <a:solidFill>
                  <a:srgbClr val="C0E0D8"/>
                </a:solidFill>
              </a:rPr>
              <a:t>Expert-level talent</a:t>
            </a:r>
            <a:r>
              <a:rPr lang="en-US" sz="2000" dirty="0">
                <a:solidFill>
                  <a:srgbClr val="C0E0D8"/>
                </a:solidFill>
              </a:rPr>
              <a:t> in high-value categories (App Development &amp; Graphic Design) as they are the key drivers of both earnings and client loyalty.</a:t>
            </a:r>
            <a:endParaRPr lang="ar-SA" sz="2000" dirty="0">
              <a:solidFill>
                <a:srgbClr val="C0E0D8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C0E0D8"/>
                </a:solidFill>
              </a:rPr>
              <a:t>Enhance Top-Tier Client Retention Strategy.</a:t>
            </a:r>
            <a:r>
              <a:rPr lang="en-US" sz="2000" dirty="0">
                <a:solidFill>
                  <a:srgbClr val="C0E0D8"/>
                </a:solidFill>
              </a:rPr>
              <a:t> Target high-rated clients (4.5+) with personalized campaigns to boost rehire rates, addressing the unexpected loyalty gap identified in the 5.0-rated customer segment.</a:t>
            </a:r>
            <a:endParaRPr lang="ar-SA" sz="2000" dirty="0">
              <a:solidFill>
                <a:srgbClr val="C0E0D8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C0E0D8"/>
                </a:solidFill>
              </a:rPr>
              <a:t>Prioritize High-Value Geographic Markets.</a:t>
            </a:r>
            <a:r>
              <a:rPr lang="en-US" sz="2000" dirty="0">
                <a:solidFill>
                  <a:srgbClr val="C0E0D8"/>
                </a:solidFill>
              </a:rPr>
              <a:t> Direct sales and client outreach efforts towards </a:t>
            </a:r>
            <a:r>
              <a:rPr lang="en-US" sz="2000" b="1" dirty="0">
                <a:solidFill>
                  <a:srgbClr val="C0E0D8"/>
                </a:solidFill>
              </a:rPr>
              <a:t>Canada</a:t>
            </a:r>
            <a:r>
              <a:rPr lang="en-US" sz="2000" dirty="0">
                <a:solidFill>
                  <a:srgbClr val="C0E0D8"/>
                </a:solidFill>
              </a:rPr>
              <a:t> for maximum project value and </a:t>
            </a:r>
            <a:r>
              <a:rPr lang="en-US" sz="2000" b="1" dirty="0">
                <a:solidFill>
                  <a:srgbClr val="C0E0D8"/>
                </a:solidFill>
              </a:rPr>
              <a:t>Australia</a:t>
            </a:r>
            <a:r>
              <a:rPr lang="en-US" sz="2000" dirty="0">
                <a:solidFill>
                  <a:srgbClr val="C0E0D8"/>
                </a:solidFill>
              </a:rPr>
              <a:t> to leverage the highest project success rates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6488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D18D-FC2A-AB8A-A956-5FE5A74C5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3DDD6C03-FDD1-02F6-F596-EF80FBCA7EB8}"/>
              </a:ext>
            </a:extLst>
          </p:cNvPr>
          <p:cNvGrpSpPr/>
          <p:nvPr/>
        </p:nvGrpSpPr>
        <p:grpSpPr>
          <a:xfrm>
            <a:off x="-589547" y="-180474"/>
            <a:ext cx="2723276" cy="7038474"/>
            <a:chOff x="0" y="-76200"/>
            <a:chExt cx="852938" cy="2785533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DADEAE3-AD3A-0F32-46E6-133CC8F15F1F}"/>
                </a:ext>
              </a:extLst>
            </p:cNvPr>
            <p:cNvSpPr/>
            <p:nvPr/>
          </p:nvSpPr>
          <p:spPr>
            <a:xfrm>
              <a:off x="187165" y="0"/>
              <a:ext cx="665773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A6A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36DB0B7F-7702-76CE-DFB8-99EB32DEB1B1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DF821A45-D7E5-A07A-94CA-9769E207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23" y="265949"/>
            <a:ext cx="10515600" cy="975893"/>
          </a:xfrm>
        </p:spPr>
        <p:txBody>
          <a:bodyPr>
            <a:noAutofit/>
          </a:bodyPr>
          <a:lstStyle/>
          <a:p>
            <a:r>
              <a:rPr lang="en-US" b="1" spc="-70" dirty="0">
                <a:solidFill>
                  <a:srgbClr val="F2E9D8"/>
                </a:solidFill>
                <a:latin typeface="Telegraf Bold"/>
                <a:ea typeface="Telegraf Bold"/>
                <a:cs typeface="Telegraf Bold"/>
                <a:sym typeface="Telegraf Bold"/>
              </a:rPr>
              <a:t>Tools Used &amp; Methodology</a:t>
            </a:r>
            <a:br>
              <a:rPr lang="en-US" sz="5400" b="1" spc="-70" dirty="0">
                <a:solidFill>
                  <a:srgbClr val="F2E9D8"/>
                </a:solidFill>
                <a:latin typeface="Telegraf Bold"/>
                <a:ea typeface="Telegraf Bold"/>
                <a:cs typeface="Telegraf Bold"/>
                <a:sym typeface="Telegraf Bold"/>
              </a:rPr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5D3F5D-4C89-706E-24A0-50031DF18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1423" y="1241842"/>
            <a:ext cx="8649930" cy="4790106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F2E9D8"/>
                </a:solidFill>
              </a:rPr>
              <a:t>Power BI</a:t>
            </a:r>
            <a:r>
              <a:rPr lang="en-US" sz="2000" dirty="0">
                <a:solidFill>
                  <a:srgbClr val="F2E9D8"/>
                </a:solidFill>
              </a:rPr>
              <a:t>: Used for data integration, cleaning, modeling, and creating interactive, high-impact data visualizations (Dashboards).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F2E9D8"/>
                </a:solidFill>
              </a:rPr>
              <a:t>Excel</a:t>
            </a:r>
            <a:r>
              <a:rPr lang="en-US" sz="2000" dirty="0">
                <a:solidFill>
                  <a:srgbClr val="F2E9D8"/>
                </a:solidFill>
              </a:rPr>
              <a:t>: Utilized for initial data review, preliminary cleaning, and transformation tasks.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F2E9D8"/>
                </a:solidFill>
              </a:rPr>
              <a:t>Python</a:t>
            </a:r>
            <a:r>
              <a:rPr lang="en-US" sz="2000" dirty="0">
                <a:solidFill>
                  <a:srgbClr val="F2E9D8"/>
                </a:solidFill>
              </a:rPr>
              <a:t>: Employed for advanced statistical analysis, including generating the Heatmap to visualize correlations.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2E9D8"/>
                </a:solidFill>
              </a:rPr>
              <a:t> </a:t>
            </a:r>
            <a:r>
              <a:rPr lang="en-US" sz="2000" b="1" dirty="0">
                <a:solidFill>
                  <a:srgbClr val="F2E9D8"/>
                </a:solidFill>
              </a:rPr>
              <a:t>Data Source</a:t>
            </a:r>
            <a:r>
              <a:rPr lang="en-US" sz="2000" dirty="0">
                <a:solidFill>
                  <a:srgbClr val="F2E9D8"/>
                </a:solidFill>
              </a:rPr>
              <a:t>: </a:t>
            </a:r>
            <a:r>
              <a:rPr lang="en-US" sz="2000" dirty="0">
                <a:solidFill>
                  <a:srgbClr val="F2E9D8"/>
                </a:solidFill>
                <a:hlinkClick r:id="rId3"/>
              </a:rPr>
              <a:t>Kaggle Dataset </a:t>
            </a:r>
            <a:endParaRPr lang="en-US" sz="2000" dirty="0">
              <a:solidFill>
                <a:srgbClr val="F2E9D8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F2E9D8"/>
                </a:solidFill>
              </a:rPr>
              <a:t>Methodology Summary </a:t>
            </a:r>
            <a:r>
              <a:rPr lang="en-US" sz="2000" dirty="0">
                <a:solidFill>
                  <a:srgbClr val="F2E9D8"/>
                </a:solidFill>
              </a:rPr>
              <a:t>: Data was collected, cleaned, and organized using Power BI, followed by visual analysis to identify strategic insights and advanced statistical modeling to quantify key performance drivers.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F2E9D8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F2E9D8"/>
                </a:solidFill>
              </a:rPr>
              <a:t>GitHub: </a:t>
            </a:r>
            <a:r>
              <a:rPr lang="ar-SA" sz="2000" b="1" dirty="0">
                <a:solidFill>
                  <a:srgbClr val="F2E9D8"/>
                </a:solidFill>
              </a:rPr>
              <a:t>       </a:t>
            </a:r>
            <a:r>
              <a:rPr lang="en-US" sz="2000" b="1" dirty="0">
                <a:solidFill>
                  <a:srgbClr val="F2E9D8"/>
                </a:solidFill>
                <a:hlinkClick r:id="rId4"/>
              </a:rPr>
              <a:t>GitHub Project</a:t>
            </a:r>
            <a:endParaRPr lang="en-US" sz="2000" b="1" dirty="0">
              <a:solidFill>
                <a:srgbClr val="F2E9D8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F2E9D8"/>
                </a:solidFill>
              </a:rPr>
              <a:t> </a:t>
            </a:r>
            <a:r>
              <a:rPr lang="en-US" sz="2000" b="1" dirty="0">
                <a:solidFill>
                  <a:srgbClr val="F2E9D8"/>
                </a:solidFill>
                <a:hlinkClick r:id="rId5"/>
              </a:rPr>
              <a:t>Samar’s LinkedIn </a:t>
            </a:r>
            <a:endParaRPr lang="en-US" sz="2000" b="1" dirty="0">
              <a:solidFill>
                <a:srgbClr val="F2E9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360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3A0C-F8D6-BA26-B16A-C1A8B99E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AAEBEB54-AAE7-7DB9-4A6E-11BEE7D7D863}"/>
              </a:ext>
            </a:extLst>
          </p:cNvPr>
          <p:cNvGrpSpPr/>
          <p:nvPr/>
        </p:nvGrpSpPr>
        <p:grpSpPr>
          <a:xfrm>
            <a:off x="9055511" y="-192881"/>
            <a:ext cx="3136490" cy="7050881"/>
            <a:chOff x="0" y="-76200"/>
            <a:chExt cx="852938" cy="2785533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573CEFF-A06D-C5FC-1D4A-99789BB9E5BF}"/>
                </a:ext>
              </a:extLst>
            </p:cNvPr>
            <p:cNvSpPr/>
            <p:nvPr/>
          </p:nvSpPr>
          <p:spPr>
            <a:xfrm>
              <a:off x="187165" y="0"/>
              <a:ext cx="665773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A6A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B50DE011-D2AE-2575-B150-70A8396BE48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65AE6B2F-5F73-C681-0CAF-CEC5D72C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4" y="774250"/>
            <a:ext cx="10515600" cy="1605156"/>
          </a:xfrm>
        </p:spPr>
        <p:txBody>
          <a:bodyPr>
            <a:noAutofit/>
          </a:bodyPr>
          <a:lstStyle/>
          <a:p>
            <a:r>
              <a:rPr lang="en-US" b="1" spc="-70" dirty="0">
                <a:solidFill>
                  <a:srgbClr val="88CD8B"/>
                </a:solidFill>
                <a:latin typeface="Telegraf Bold"/>
                <a:ea typeface="Telegraf Bold"/>
                <a:cs typeface="Telegraf Bold"/>
                <a:sym typeface="Telegraf Bold"/>
              </a:rPr>
              <a:t>Acknowledgments and Thank You</a:t>
            </a:r>
            <a:r>
              <a:rPr lang="en-US" sz="5400" b="1" spc="-70" dirty="0">
                <a:solidFill>
                  <a:srgbClr val="88CD8B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br>
              <a:rPr lang="en-US" sz="5400" b="1" spc="-70" dirty="0">
                <a:solidFill>
                  <a:srgbClr val="88CD8B"/>
                </a:solidFill>
                <a:latin typeface="Telegraf Bold"/>
                <a:ea typeface="Telegraf Bold"/>
                <a:cs typeface="Telegraf Bold"/>
                <a:sym typeface="Telegraf Bold"/>
              </a:rPr>
            </a:br>
            <a:r>
              <a:rPr lang="en-US" sz="5400" b="1" spc="-70" dirty="0">
                <a:solidFill>
                  <a:srgbClr val="88CD8B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2400" b="1" spc="-70" dirty="0">
                <a:solidFill>
                  <a:srgbClr val="88CD8B"/>
                </a:solidFill>
                <a:latin typeface="Telegraf Bold"/>
                <a:ea typeface="Telegraf Bold"/>
                <a:cs typeface="Telegraf Bold"/>
                <a:sym typeface="Telegraf Bold"/>
              </a:rPr>
              <a:t>”Quality and Efficiency Drive the Future”</a:t>
            </a:r>
            <a:br>
              <a:rPr lang="en-US" sz="5400" b="1" spc="-70" dirty="0">
                <a:solidFill>
                  <a:srgbClr val="88CD8B"/>
                </a:solidFill>
                <a:latin typeface="Telegraf Bold"/>
                <a:ea typeface="Telegraf Bold"/>
                <a:cs typeface="Telegraf Bold"/>
                <a:sym typeface="Telegraf Bold"/>
              </a:rPr>
            </a:br>
            <a:endParaRPr lang="en-US" dirty="0">
              <a:solidFill>
                <a:srgbClr val="88CD8B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DAF710-F226-6835-F881-36024D7DD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1" y="2703871"/>
            <a:ext cx="8649930" cy="4790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E9D8"/>
                </a:solidFill>
              </a:rPr>
              <a:t>Special thanks to:</a:t>
            </a:r>
            <a:r>
              <a:rPr lang="en-US" sz="2000" dirty="0">
                <a:solidFill>
                  <a:srgbClr val="F2E9D8"/>
                </a:solidFill>
              </a:rPr>
              <a:t> Paper Airplanes Organization and the Women in Tech Program for their support and opportunity.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2E9D8"/>
                </a:solidFill>
              </a:rPr>
              <a:t>Mentor &amp; Tutor Appreciation:</a:t>
            </a:r>
            <a:r>
              <a:rPr lang="en-US" sz="2000" dirty="0">
                <a:solidFill>
                  <a:srgbClr val="F2E9D8"/>
                </a:solidFill>
              </a:rPr>
              <a:t> Sincere gratitude to Ameer Al- Halwani and  Ammar </a:t>
            </a:r>
            <a:r>
              <a:rPr lang="en-US" sz="2000" dirty="0" err="1">
                <a:solidFill>
                  <a:srgbClr val="F2E9D8"/>
                </a:solidFill>
              </a:rPr>
              <a:t>Alnatour</a:t>
            </a:r>
            <a:r>
              <a:rPr lang="en-US" sz="2000" dirty="0">
                <a:solidFill>
                  <a:srgbClr val="F2E9D8"/>
                </a:solidFill>
              </a:rPr>
              <a:t> for continuous guidance and expertise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2E9D8"/>
                </a:solidFill>
              </a:rPr>
              <a:t>Thank you for your time and attention.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7487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2169</TotalTime>
  <Words>1312</Words>
  <Application>Microsoft Office PowerPoint</Application>
  <PresentationFormat>Widescreen</PresentationFormat>
  <Paragraphs>85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Telegraf</vt:lpstr>
      <vt:lpstr>Telegraf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SWOT Analysis</vt:lpstr>
      <vt:lpstr>Recommendations &amp; Strategic Actions  </vt:lpstr>
      <vt:lpstr>Tools Used &amp; Methodology </vt:lpstr>
      <vt:lpstr>Acknowledgments and Thank You   ”Quality and Efficiency Drive the Future”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 Balousha</dc:creator>
  <cp:lastModifiedBy>Samar Balousha</cp:lastModifiedBy>
  <cp:revision>19</cp:revision>
  <dcterms:created xsi:type="dcterms:W3CDTF">2025-11-20T14:08:42Z</dcterms:created>
  <dcterms:modified xsi:type="dcterms:W3CDTF">2025-11-25T15:47:45Z</dcterms:modified>
</cp:coreProperties>
</file>